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Stil tematic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Stil tematic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zitiv titl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00828A0-53EB-4D3B-AD36-36D77100BE83}" type="datetimeFigureOut">
              <a:rPr lang="ro-RO" smtClean="0"/>
              <a:t>20.01.2026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EF0C9D7-BA6C-44A7-8D3C-A52FE2C5EF21}" type="slidenum">
              <a:rPr lang="ro-RO" smtClean="0"/>
              <a:t>‹#›</a:t>
            </a:fld>
            <a:endParaRPr lang="ro-RO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349213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828A0-53EB-4D3B-AD36-36D77100BE83}" type="datetimeFigureOut">
              <a:rPr lang="ro-RO" smtClean="0"/>
              <a:t>20.01.2026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C9D7-BA6C-44A7-8D3C-A52FE2C5EF2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05946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ntet secțiun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0828A0-53EB-4D3B-AD36-36D77100BE83}" type="datetimeFigureOut">
              <a:rPr lang="ro-RO" smtClean="0"/>
              <a:t>20.01.2026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F0C9D7-BA6C-44A7-8D3C-A52FE2C5EF21}" type="slidenum">
              <a:rPr lang="ro-RO" smtClean="0"/>
              <a:t>‹#›</a:t>
            </a:fld>
            <a:endParaRPr lang="ro-RO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611398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828A0-53EB-4D3B-AD36-36D77100BE83}" type="datetimeFigureOut">
              <a:rPr lang="ro-RO" smtClean="0"/>
              <a:t>20.01.2026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C9D7-BA6C-44A7-8D3C-A52FE2C5EF2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0549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828A0-53EB-4D3B-AD36-36D77100BE83}" type="datetimeFigureOut">
              <a:rPr lang="ro-RO" smtClean="0"/>
              <a:t>20.01.2026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C9D7-BA6C-44A7-8D3C-A52FE2C5EF2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4944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828A0-53EB-4D3B-AD36-36D77100BE83}" type="datetimeFigureOut">
              <a:rPr lang="ro-RO" smtClean="0"/>
              <a:t>20.01.2026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C9D7-BA6C-44A7-8D3C-A52FE2C5EF2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35238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828A0-53EB-4D3B-AD36-36D77100BE83}" type="datetimeFigureOut">
              <a:rPr lang="ro-RO" smtClean="0"/>
              <a:t>20.01.2026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C9D7-BA6C-44A7-8D3C-A52FE2C5EF2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41497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0828A0-53EB-4D3B-AD36-36D77100BE83}" type="datetimeFigureOut">
              <a:rPr lang="ro-RO" smtClean="0"/>
              <a:t>20.01.2026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F0C9D7-BA6C-44A7-8D3C-A52FE2C5EF21}" type="slidenum">
              <a:rPr lang="ro-RO" smtClean="0"/>
              <a:t>‹#›</a:t>
            </a:fld>
            <a:endParaRPr lang="ro-RO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11554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0828A0-53EB-4D3B-AD36-36D77100BE83}" type="datetimeFigureOut">
              <a:rPr lang="ro-RO" smtClean="0"/>
              <a:t>20.01.2026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F0C9D7-BA6C-44A7-8D3C-A52FE2C5EF21}" type="slidenum">
              <a:rPr lang="ro-RO" smtClean="0"/>
              <a:t>‹#›</a:t>
            </a:fld>
            <a:endParaRPr lang="ro-RO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9165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828A0-53EB-4D3B-AD36-36D77100BE83}" type="datetimeFigureOut">
              <a:rPr lang="ro-RO" smtClean="0"/>
              <a:t>20.01.2026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C9D7-BA6C-44A7-8D3C-A52FE2C5EF2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82216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828A0-53EB-4D3B-AD36-36D77100BE83}" type="datetimeFigureOut">
              <a:rPr lang="ro-RO" smtClean="0"/>
              <a:t>20.01.2026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0C9D7-BA6C-44A7-8D3C-A52FE2C5EF2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22160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300828A0-53EB-4D3B-AD36-36D77100BE83}" type="datetimeFigureOut">
              <a:rPr lang="ro-RO" smtClean="0"/>
              <a:t>20.01.2026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3EF0C9D7-BA6C-44A7-8D3C-A52FE2C5EF21}" type="slidenum">
              <a:rPr lang="ro-RO" smtClean="0"/>
              <a:t>‹#›</a:t>
            </a:fld>
            <a:endParaRPr lang="ro-RO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45733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python.langchain.com/docs/integrations/graphs/neo4j_cypher/" TargetMode="External"/><Relationship Id="rId3" Type="http://schemas.openxmlformats.org/officeDocument/2006/relationships/hyperlink" Target="https://neo4j.com/docs/cypher-manual/current/" TargetMode="External"/><Relationship Id="rId7" Type="http://schemas.openxmlformats.org/officeDocument/2006/relationships/hyperlink" Target="https://python.langchain.com/docs/introduction/" TargetMode="External"/><Relationship Id="rId2" Type="http://schemas.openxmlformats.org/officeDocument/2006/relationships/hyperlink" Target="https://neo4j.com/doc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oracle.com/en/database/oracle/oracle-database/19/tgsql/generating-and-displaying-execution-plans.html" TargetMode="External"/><Relationship Id="rId11" Type="http://schemas.openxmlformats.org/officeDocument/2006/relationships/hyperlink" Target="https://pyvis.readthedocs.io/en/latest/" TargetMode="External"/><Relationship Id="rId5" Type="http://schemas.openxmlformats.org/officeDocument/2006/relationships/hyperlink" Target="https://docs.oracle.com/en/database/oracle/oracle-database/19/index.html" TargetMode="External"/><Relationship Id="rId10" Type="http://schemas.openxmlformats.org/officeDocument/2006/relationships/hyperlink" Target="https://docs.streamlit.io/" TargetMode="External"/><Relationship Id="rId4" Type="http://schemas.openxmlformats.org/officeDocument/2006/relationships/hyperlink" Target="https://neo4j.com/docs/python-manual/current/" TargetMode="External"/><Relationship Id="rId9" Type="http://schemas.openxmlformats.org/officeDocument/2006/relationships/hyperlink" Target="https://ai.google.dev/do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BFE7E2B-EEB3-8D17-962D-2BBFEFAFF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2411" y="2476431"/>
            <a:ext cx="10058400" cy="2098226"/>
          </a:xfrm>
        </p:spPr>
        <p:txBody>
          <a:bodyPr/>
          <a:lstStyle/>
          <a:p>
            <a:r>
              <a:rPr lang="it-IT" sz="5400" dirty="0"/>
              <a:t>Modelarea și Interogarea unei Rețele Sociale Profesionale în Neo4j</a:t>
            </a:r>
            <a:endParaRPr lang="ro-RO" sz="5400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2BEBAD81-4807-70AE-F13E-309BDF3EE8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70453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2C928B8-602F-76C4-CE86-17230E00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Arhitectura Sistemului</a:t>
            </a:r>
          </a:p>
        </p:txBody>
      </p:sp>
      <p:pic>
        <p:nvPicPr>
          <p:cNvPr id="5" name="Substituent conținut 4">
            <a:extLst>
              <a:ext uri="{FF2B5EF4-FFF2-40B4-BE49-F238E27FC236}">
                <a16:creationId xmlns:a16="http://schemas.microsoft.com/office/drawing/2014/main" id="{48EAAD2C-7862-1684-6EF6-996A31BEB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523" y="1045028"/>
            <a:ext cx="11385812" cy="5127172"/>
          </a:xfrm>
        </p:spPr>
      </p:pic>
    </p:spTree>
    <p:extLst>
      <p:ext uri="{BB962C8B-B14F-4D97-AF65-F5344CB8AC3E}">
        <p14:creationId xmlns:p14="http://schemas.microsoft.com/office/powerpoint/2010/main" val="167052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11FB1AC-3CED-E4AE-0994-7C689900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Arhitectura Sistemului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227277-3EBB-106E-D550-2150BC2584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6177" y="1642616"/>
            <a:ext cx="913964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</a:t>
            </a:r>
            <a:r>
              <a:rPr kumimoji="0" lang="ro-RO" altLang="ro-R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Neo4j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AuraDB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– Stocare nativă de grafuri.</a:t>
            </a:r>
            <a:endParaRPr kumimoji="0" lang="en-US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 </a:t>
            </a:r>
            <a:r>
              <a:rPr kumimoji="0" lang="ro-RO" altLang="ro-R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3.12 +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LangChain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Orchestrare logică și AI.</a:t>
            </a:r>
            <a:endParaRPr kumimoji="0" lang="en-US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</a:t>
            </a:r>
            <a:r>
              <a:rPr kumimoji="0" lang="ro-RO" altLang="ro-R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Gemini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2.0 Flash – Traducere Text-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Cypher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Presentation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PyVis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Interfață Web și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Randare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Grafică.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ED29C81F-DF26-474E-15AE-373D6DAE5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376" y="4108242"/>
            <a:ext cx="8299269" cy="180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899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AA036BB-76DF-FA69-DB4C-3CD55073D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ro-RO" dirty="0"/>
              <a:t>Modelul de Date</a:t>
            </a:r>
          </a:p>
        </p:txBody>
      </p:sp>
      <p:graphicFrame>
        <p:nvGraphicFramePr>
          <p:cNvPr id="7" name="Substituent conținut 6">
            <a:extLst>
              <a:ext uri="{FF2B5EF4-FFF2-40B4-BE49-F238E27FC236}">
                <a16:creationId xmlns:a16="http://schemas.microsoft.com/office/drawing/2014/main" id="{C5C7A406-B61B-1AB7-0E6F-FECD5FF39A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0750876"/>
              </p:ext>
            </p:extLst>
          </p:nvPr>
        </p:nvGraphicFramePr>
        <p:xfrm>
          <a:off x="1371600" y="2286000"/>
          <a:ext cx="8387664" cy="363589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795888">
                  <a:extLst>
                    <a:ext uri="{9D8B030D-6E8A-4147-A177-3AD203B41FA5}">
                      <a16:colId xmlns:a16="http://schemas.microsoft.com/office/drawing/2014/main" val="1835285305"/>
                    </a:ext>
                  </a:extLst>
                </a:gridCol>
                <a:gridCol w="2795888">
                  <a:extLst>
                    <a:ext uri="{9D8B030D-6E8A-4147-A177-3AD203B41FA5}">
                      <a16:colId xmlns:a16="http://schemas.microsoft.com/office/drawing/2014/main" val="2836975813"/>
                    </a:ext>
                  </a:extLst>
                </a:gridCol>
                <a:gridCol w="2795888">
                  <a:extLst>
                    <a:ext uri="{9D8B030D-6E8A-4147-A177-3AD203B41FA5}">
                      <a16:colId xmlns:a16="http://schemas.microsoft.com/office/drawing/2014/main" val="2743190307"/>
                    </a:ext>
                  </a:extLst>
                </a:gridCol>
              </a:tblGrid>
              <a:tr h="3062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b="1">
                          <a:effectLst/>
                        </a:rPr>
                        <a:t>Label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b="1">
                          <a:effectLst/>
                        </a:rPr>
                        <a:t>Proprietăți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b="1">
                          <a:effectLst/>
                        </a:rPr>
                        <a:t>Descriere</a:t>
                      </a:r>
                    </a:p>
                  </a:txBody>
                  <a:tcPr marL="72116" marR="72116" marT="33284" marB="33284" anchor="ctr"/>
                </a:tc>
                <a:extLst>
                  <a:ext uri="{0D108BD9-81ED-4DB2-BD59-A6C34878D82A}">
                    <a16:rowId xmlns:a16="http://schemas.microsoft.com/office/drawing/2014/main" val="3622038574"/>
                  </a:ext>
                </a:extLst>
              </a:tr>
              <a:tr h="5458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b="1" dirty="0" err="1">
                          <a:effectLst/>
                        </a:rPr>
                        <a:t>User</a:t>
                      </a:r>
                      <a:endParaRPr lang="ro-RO" sz="1600" dirty="0">
                        <a:effectLst/>
                      </a:endParaRP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id, name, role, languages, soft_skills, open_to_work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Nodul central (Studenți, Angajați, Recruiteri)</a:t>
                      </a:r>
                    </a:p>
                  </a:txBody>
                  <a:tcPr marL="72116" marR="72116" marT="33284" marB="33284" anchor="ctr"/>
                </a:tc>
                <a:extLst>
                  <a:ext uri="{0D108BD9-81ED-4DB2-BD59-A6C34878D82A}">
                    <a16:rowId xmlns:a16="http://schemas.microsoft.com/office/drawing/2014/main" val="3021199390"/>
                  </a:ext>
                </a:extLst>
              </a:tr>
              <a:tr h="5458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b="1">
                          <a:effectLst/>
                        </a:rPr>
                        <a:t>Company</a:t>
                      </a:r>
                      <a:endParaRPr lang="ro-RO" sz="1600">
                        <a:effectLst/>
                      </a:endParaRP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name, industry, </a:t>
                      </a:r>
                      <a:r>
                        <a:rPr lang="en-US" sz="1600" dirty="0" err="1">
                          <a:effectLst/>
                        </a:rPr>
                        <a:t>work_culture</a:t>
                      </a:r>
                      <a:r>
                        <a:rPr lang="en-US" sz="1600" dirty="0">
                          <a:effectLst/>
                        </a:rPr>
                        <a:t>, city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Organizații și companii angajatoare</a:t>
                      </a:r>
                    </a:p>
                  </a:txBody>
                  <a:tcPr marL="72116" marR="72116" marT="33284" marB="33284" anchor="ctr"/>
                </a:tc>
                <a:extLst>
                  <a:ext uri="{0D108BD9-81ED-4DB2-BD59-A6C34878D82A}">
                    <a16:rowId xmlns:a16="http://schemas.microsoft.com/office/drawing/2014/main" val="2810443112"/>
                  </a:ext>
                </a:extLst>
              </a:tr>
              <a:tr h="5458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b="1">
                          <a:effectLst/>
                        </a:rPr>
                        <a:t>University</a:t>
                      </a:r>
                      <a:endParaRPr lang="ro-RO" sz="1600">
                        <a:effectLst/>
                      </a:endParaRP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name, country, rank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Instituții de învățământ (pentru rețeaua Alumni)</a:t>
                      </a:r>
                    </a:p>
                  </a:txBody>
                  <a:tcPr marL="72116" marR="72116" marT="33284" marB="33284" anchor="ctr"/>
                </a:tc>
                <a:extLst>
                  <a:ext uri="{0D108BD9-81ED-4DB2-BD59-A6C34878D82A}">
                    <a16:rowId xmlns:a16="http://schemas.microsoft.com/office/drawing/2014/main" val="2040364568"/>
                  </a:ext>
                </a:extLst>
              </a:tr>
              <a:tr h="5458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b="1">
                          <a:effectLst/>
                        </a:rPr>
                        <a:t>Project</a:t>
                      </a:r>
                      <a:endParaRPr lang="ro-RO" sz="1600">
                        <a:effectLst/>
                      </a:endParaRP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name, tech_stack, type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Proiecte (Open Source, Hackathon, Personale)</a:t>
                      </a:r>
                    </a:p>
                  </a:txBody>
                  <a:tcPr marL="72116" marR="72116" marT="33284" marB="33284" anchor="ctr"/>
                </a:tc>
                <a:extLst>
                  <a:ext uri="{0D108BD9-81ED-4DB2-BD59-A6C34878D82A}">
                    <a16:rowId xmlns:a16="http://schemas.microsoft.com/office/drawing/2014/main" val="3827141542"/>
                  </a:ext>
                </a:extLst>
              </a:tr>
              <a:tr h="5458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b="1">
                          <a:effectLst/>
                        </a:rPr>
                        <a:t>Certification</a:t>
                      </a:r>
                      <a:endParaRPr lang="ro-RO" sz="1600">
                        <a:effectLst/>
                      </a:endParaRP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name, issuer, difficulty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Acreditări profesionale (ex: AWS, PMP)</a:t>
                      </a:r>
                    </a:p>
                  </a:txBody>
                  <a:tcPr marL="72116" marR="72116" marT="33284" marB="33284" anchor="ctr"/>
                </a:tc>
                <a:extLst>
                  <a:ext uri="{0D108BD9-81ED-4DB2-BD59-A6C34878D82A}">
                    <a16:rowId xmlns:a16="http://schemas.microsoft.com/office/drawing/2014/main" val="468491846"/>
                  </a:ext>
                </a:extLst>
              </a:tr>
              <a:tr h="5458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b="1" dirty="0">
                          <a:effectLst/>
                        </a:rPr>
                        <a:t>Post</a:t>
                      </a:r>
                      <a:endParaRPr lang="ro-RO" sz="1600" dirty="0">
                        <a:effectLst/>
                      </a:endParaRP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id, topics, timestamp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600" dirty="0">
                          <a:effectLst/>
                        </a:rPr>
                        <a:t>Conținut social (articole, știri) pentru interese</a:t>
                      </a:r>
                    </a:p>
                  </a:txBody>
                  <a:tcPr marL="72116" marR="72116" marT="33284" marB="33284" anchor="ctr"/>
                </a:tc>
                <a:extLst>
                  <a:ext uri="{0D108BD9-81ED-4DB2-BD59-A6C34878D82A}">
                    <a16:rowId xmlns:a16="http://schemas.microsoft.com/office/drawing/2014/main" val="1015462847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5AFF0363-7F32-A90C-BFC5-E7A1E9DE9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313" y="1697041"/>
            <a:ext cx="1598023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ro-RO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Noduri</a:t>
            </a:r>
          </a:p>
        </p:txBody>
      </p:sp>
    </p:spTree>
    <p:extLst>
      <p:ext uri="{BB962C8B-B14F-4D97-AF65-F5344CB8AC3E}">
        <p14:creationId xmlns:p14="http://schemas.microsoft.com/office/powerpoint/2010/main" val="2020879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F026F45-D9B0-88BB-707D-D35DB7375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Modelul de Date</a:t>
            </a:r>
          </a:p>
        </p:txBody>
      </p:sp>
      <p:graphicFrame>
        <p:nvGraphicFramePr>
          <p:cNvPr id="4" name="Substituent conținut 3">
            <a:extLst>
              <a:ext uri="{FF2B5EF4-FFF2-40B4-BE49-F238E27FC236}">
                <a16:creationId xmlns:a16="http://schemas.microsoft.com/office/drawing/2014/main" id="{236CE919-C60D-6311-35C6-E6A0CDD6A1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082164"/>
              </p:ext>
            </p:extLst>
          </p:nvPr>
        </p:nvGraphicFramePr>
        <p:xfrm>
          <a:off x="1371600" y="2787798"/>
          <a:ext cx="8387664" cy="363589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096916">
                  <a:extLst>
                    <a:ext uri="{9D8B030D-6E8A-4147-A177-3AD203B41FA5}">
                      <a16:colId xmlns:a16="http://schemas.microsoft.com/office/drawing/2014/main" val="2769548235"/>
                    </a:ext>
                  </a:extLst>
                </a:gridCol>
                <a:gridCol w="2096916">
                  <a:extLst>
                    <a:ext uri="{9D8B030D-6E8A-4147-A177-3AD203B41FA5}">
                      <a16:colId xmlns:a16="http://schemas.microsoft.com/office/drawing/2014/main" val="2857535646"/>
                    </a:ext>
                  </a:extLst>
                </a:gridCol>
                <a:gridCol w="2096916">
                  <a:extLst>
                    <a:ext uri="{9D8B030D-6E8A-4147-A177-3AD203B41FA5}">
                      <a16:colId xmlns:a16="http://schemas.microsoft.com/office/drawing/2014/main" val="459939424"/>
                    </a:ext>
                  </a:extLst>
                </a:gridCol>
                <a:gridCol w="2096916">
                  <a:extLst>
                    <a:ext uri="{9D8B030D-6E8A-4147-A177-3AD203B41FA5}">
                      <a16:colId xmlns:a16="http://schemas.microsoft.com/office/drawing/2014/main" val="833411753"/>
                    </a:ext>
                  </a:extLst>
                </a:gridCol>
              </a:tblGrid>
              <a:tr h="3062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b="1">
                          <a:effectLst/>
                        </a:rPr>
                        <a:t>Tip Relație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b="1">
                          <a:effectLst/>
                        </a:rPr>
                        <a:t>De la -&gt; Către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b="1">
                          <a:effectLst/>
                        </a:rPr>
                        <a:t>Proprietăți Cheie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b="1">
                          <a:effectLst/>
                        </a:rPr>
                        <a:t>Descriere</a:t>
                      </a:r>
                    </a:p>
                  </a:txBody>
                  <a:tcPr marL="72116" marR="72116" marT="33284" marB="33284" anchor="ctr"/>
                </a:tc>
                <a:extLst>
                  <a:ext uri="{0D108BD9-81ED-4DB2-BD59-A6C34878D82A}">
                    <a16:rowId xmlns:a16="http://schemas.microsoft.com/office/drawing/2014/main" val="2958732834"/>
                  </a:ext>
                </a:extLst>
              </a:tr>
              <a:tr h="5458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b="1" dirty="0">
                          <a:effectLst/>
                        </a:rPr>
                        <a:t>WORKS_AT</a:t>
                      </a:r>
                      <a:endParaRPr lang="ro-RO" sz="1600" dirty="0">
                        <a:effectLst/>
                      </a:endParaRP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dirty="0" err="1">
                          <a:effectLst/>
                        </a:rPr>
                        <a:t>User</a:t>
                      </a:r>
                      <a:r>
                        <a:rPr lang="ro-RO" sz="1600" dirty="0">
                          <a:effectLst/>
                        </a:rPr>
                        <a:t> -&gt; Company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role, current, end_year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Istoricul profesional sau jobul curent</a:t>
                      </a:r>
                    </a:p>
                  </a:txBody>
                  <a:tcPr marL="72116" marR="72116" marT="33284" marB="33284" anchor="ctr"/>
                </a:tc>
                <a:extLst>
                  <a:ext uri="{0D108BD9-81ED-4DB2-BD59-A6C34878D82A}">
                    <a16:rowId xmlns:a16="http://schemas.microsoft.com/office/drawing/2014/main" val="4284492007"/>
                  </a:ext>
                </a:extLst>
              </a:tr>
              <a:tr h="5458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b="1">
                          <a:effectLst/>
                        </a:rPr>
                        <a:t>STUDIED_AT</a:t>
                      </a:r>
                      <a:endParaRPr lang="ro-RO" sz="1600">
                        <a:effectLst/>
                      </a:endParaRP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User -&gt; University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degree, year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>
                          <a:effectLst/>
                        </a:rPr>
                        <a:t>Conectează userul de Alma Mater</a:t>
                      </a:r>
                    </a:p>
                  </a:txBody>
                  <a:tcPr marL="72116" marR="72116" marT="33284" marB="33284" anchor="ctr"/>
                </a:tc>
                <a:extLst>
                  <a:ext uri="{0D108BD9-81ED-4DB2-BD59-A6C34878D82A}">
                    <a16:rowId xmlns:a16="http://schemas.microsoft.com/office/drawing/2014/main" val="3335351326"/>
                  </a:ext>
                </a:extLst>
              </a:tr>
              <a:tr h="5458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b="1">
                          <a:effectLst/>
                        </a:rPr>
                        <a:t>CONTRIBUTED_TO</a:t>
                      </a:r>
                      <a:endParaRPr lang="ro-RO" sz="1600">
                        <a:effectLst/>
                      </a:endParaRP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dirty="0" err="1">
                          <a:effectLst/>
                        </a:rPr>
                        <a:t>User</a:t>
                      </a:r>
                      <a:r>
                        <a:rPr lang="ro-RO" sz="1600" dirty="0">
                          <a:effectLst/>
                        </a:rPr>
                        <a:t> -&gt; Project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commits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600">
                          <a:effectLst/>
                        </a:rPr>
                        <a:t>Arată implicarea tehnică într-un proiect</a:t>
                      </a:r>
                    </a:p>
                  </a:txBody>
                  <a:tcPr marL="72116" marR="72116" marT="33284" marB="33284" anchor="ctr"/>
                </a:tc>
                <a:extLst>
                  <a:ext uri="{0D108BD9-81ED-4DB2-BD59-A6C34878D82A}">
                    <a16:rowId xmlns:a16="http://schemas.microsoft.com/office/drawing/2014/main" val="3133371373"/>
                  </a:ext>
                </a:extLst>
              </a:tr>
              <a:tr h="5458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b="1">
                          <a:effectLst/>
                        </a:rPr>
                        <a:t>EARNED</a:t>
                      </a:r>
                      <a:endParaRPr lang="ro-RO" sz="1600">
                        <a:effectLst/>
                      </a:endParaRP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User -&gt; Certification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year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Validează competențele userului</a:t>
                      </a:r>
                    </a:p>
                  </a:txBody>
                  <a:tcPr marL="72116" marR="72116" marT="33284" marB="33284" anchor="ctr"/>
                </a:tc>
                <a:extLst>
                  <a:ext uri="{0D108BD9-81ED-4DB2-BD59-A6C34878D82A}">
                    <a16:rowId xmlns:a16="http://schemas.microsoft.com/office/drawing/2014/main" val="1149324459"/>
                  </a:ext>
                </a:extLst>
              </a:tr>
              <a:tr h="5458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b="1">
                          <a:effectLst/>
                        </a:rPr>
                        <a:t>FOLLOWS</a:t>
                      </a:r>
                      <a:endParaRPr lang="ro-RO" sz="1600">
                        <a:effectLst/>
                      </a:endParaRP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User -&gt; User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(fără proprietăți)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Relația socială directă (prietenie/follow)</a:t>
                      </a:r>
                    </a:p>
                  </a:txBody>
                  <a:tcPr marL="72116" marR="72116" marT="33284" marB="33284" anchor="ctr"/>
                </a:tc>
                <a:extLst>
                  <a:ext uri="{0D108BD9-81ED-4DB2-BD59-A6C34878D82A}">
                    <a16:rowId xmlns:a16="http://schemas.microsoft.com/office/drawing/2014/main" val="2782352527"/>
                  </a:ext>
                </a:extLst>
              </a:tr>
              <a:tr h="5458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 b="1">
                          <a:effectLst/>
                        </a:rPr>
                        <a:t>ENGAGED_WITH</a:t>
                      </a:r>
                      <a:endParaRPr lang="ro-RO" sz="1600">
                        <a:effectLst/>
                      </a:endParaRP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User -&gt; Post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600">
                          <a:effectLst/>
                        </a:rPr>
                        <a:t>type (Like, Comment)</a:t>
                      </a:r>
                    </a:p>
                  </a:txBody>
                  <a:tcPr marL="72116" marR="72116" marT="33284" marB="3328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 err="1">
                          <a:effectLst/>
                        </a:rPr>
                        <a:t>Interes</a:t>
                      </a:r>
                      <a:r>
                        <a:rPr lang="en-US" sz="1600" dirty="0">
                          <a:effectLst/>
                        </a:rPr>
                        <a:t> implicit (</a:t>
                      </a:r>
                      <a:r>
                        <a:rPr lang="en-US" sz="1600" dirty="0" err="1">
                          <a:effectLst/>
                        </a:rPr>
                        <a:t>fără</a:t>
                      </a:r>
                      <a:r>
                        <a:rPr lang="en-US" sz="1600" dirty="0">
                          <a:effectLst/>
                        </a:rPr>
                        <a:t> follow direct)</a:t>
                      </a:r>
                    </a:p>
                  </a:txBody>
                  <a:tcPr marL="72116" marR="72116" marT="33284" marB="33284" anchor="ctr"/>
                </a:tc>
                <a:extLst>
                  <a:ext uri="{0D108BD9-81ED-4DB2-BD59-A6C34878D82A}">
                    <a16:rowId xmlns:a16="http://schemas.microsoft.com/office/drawing/2014/main" val="1952533917"/>
                  </a:ext>
                </a:extLst>
              </a:tr>
            </a:tbl>
          </a:graphicData>
        </a:graphic>
      </p:graphicFrame>
      <p:sp>
        <p:nvSpPr>
          <p:cNvPr id="7" name="CasetăText 6">
            <a:extLst>
              <a:ext uri="{FF2B5EF4-FFF2-40B4-BE49-F238E27FC236}">
                <a16:creationId xmlns:a16="http://schemas.microsoft.com/office/drawing/2014/main" id="{C89D3D4D-FA37-2C5F-A81D-474FFEA54E63}"/>
              </a:ext>
            </a:extLst>
          </p:cNvPr>
          <p:cNvSpPr txBox="1"/>
          <p:nvPr/>
        </p:nvSpPr>
        <p:spPr>
          <a:xfrm>
            <a:off x="1371600" y="180236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o-RO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</a:t>
            </a:r>
            <a:r>
              <a:rPr kumimoji="0" lang="ro-RO" altLang="ro-RO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ții</a:t>
            </a:r>
          </a:p>
        </p:txBody>
      </p:sp>
    </p:spTree>
    <p:extLst>
      <p:ext uri="{BB962C8B-B14F-4D97-AF65-F5344CB8AC3E}">
        <p14:creationId xmlns:p14="http://schemas.microsoft.com/office/powerpoint/2010/main" val="2839277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52B8B21-7096-3F83-4FAC-0AF68DD29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Agentul AI (</a:t>
            </a:r>
            <a:r>
              <a:rPr lang="ro-RO" dirty="0" err="1"/>
              <a:t>GraphRAG</a:t>
            </a:r>
            <a:r>
              <a:rPr lang="ro-RO" dirty="0"/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CE0782-D55F-E416-D386-12DD104F7F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2926" y="2100249"/>
            <a:ext cx="407125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Tehnologie: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Retrieval-Augmented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Generation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(RAG) cu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LangChain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Fluxul de lucru:</a:t>
            </a: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30352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Utilizatorul pune o întrebare (ex: </a:t>
            </a:r>
            <a:r>
              <a:rPr kumimoji="0" lang="ro-RO" altLang="ro-RO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"Cine lucrează la Google?)</a:t>
            </a: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30352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Agentul (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Gemini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analizează schema bazei de date.</a:t>
            </a:r>
          </a:p>
          <a:p>
            <a:pPr marL="530352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Generează automat interogarea </a:t>
            </a:r>
            <a:r>
              <a:rPr kumimoji="0" lang="ro-RO" altLang="ro-RO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Cypher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530352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Neo4j execută și returnează datele.</a:t>
            </a:r>
          </a:p>
          <a:p>
            <a:pPr marL="530352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Agentul formulează răspunsul final în limbaj natural.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ine 5" descr="O imagine care conține text, captură de ecran, Font, document&#10;&#10;Conținutul generat de inteligența artificială poate fi incorect.">
            <a:extLst>
              <a:ext uri="{FF2B5EF4-FFF2-40B4-BE49-F238E27FC236}">
                <a16:creationId xmlns:a16="http://schemas.microsoft.com/office/drawing/2014/main" id="{E0BFA59A-1A75-8805-C1D7-2D7F7C54A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979" y="2090056"/>
            <a:ext cx="6278024" cy="329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529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D671163-7FBD-9FB3-59C6-326CB8E37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Dashboard</a:t>
            </a:r>
            <a:r>
              <a:rPr lang="ro-RO" dirty="0"/>
              <a:t> &amp; Vizualizare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ED805C-C505-CE4E-D2A3-8002697B4D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7606" y="1839901"/>
            <a:ext cx="404513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Functionalități</a:t>
            </a: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352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K-hop </a:t>
            </a:r>
            <a:r>
              <a:rPr kumimoji="0" lang="ro-RO" altLang="ro-R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Neighborhood</a:t>
            </a: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Vizualizarea prietenilor și a prietenilor </a:t>
            </a:r>
            <a:r>
              <a:rPr kumimoji="0" lang="ro-RO" altLang="ro-R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prietenilor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30352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o-RO" altLang="ro-R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Shortest</a:t>
            </a: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o-RO" altLang="ro-RO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Găsirea celui mai scurt lanț de cunoștințe între doi oameni.</a:t>
            </a:r>
            <a:endParaRPr kumimoji="0" lang="en-US" altLang="ro-R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352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ro-RO" sz="2400" b="1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Friends-Of-Friends</a:t>
            </a:r>
            <a:endParaRPr kumimoji="0" lang="ro-RO" altLang="ro-RO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ine 5" descr="O imagine care conține captură de ecran, text, software, Pictogramă computer&#10;&#10;Conținutul generat de inteligența artificială poate fi incorect.">
            <a:extLst>
              <a:ext uri="{FF2B5EF4-FFF2-40B4-BE49-F238E27FC236}">
                <a16:creationId xmlns:a16="http://schemas.microsoft.com/office/drawing/2014/main" id="{E246BBE4-8E22-5928-A7D5-B2EE46163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546" y="1899665"/>
            <a:ext cx="7561454" cy="3416320"/>
          </a:xfrm>
          <a:prstGeom prst="rect">
            <a:avLst/>
          </a:prstGeom>
        </p:spPr>
      </p:pic>
      <p:sp>
        <p:nvSpPr>
          <p:cNvPr id="8" name="CasetăText 7">
            <a:extLst>
              <a:ext uri="{FF2B5EF4-FFF2-40B4-BE49-F238E27FC236}">
                <a16:creationId xmlns:a16="http://schemas.microsoft.com/office/drawing/2014/main" id="{42189D2E-634D-68C9-BFED-B8A308B6DB4A}"/>
              </a:ext>
            </a:extLst>
          </p:cNvPr>
          <p:cNvSpPr txBox="1"/>
          <p:nvPr/>
        </p:nvSpPr>
        <p:spPr>
          <a:xfrm>
            <a:off x="1371600" y="5710535"/>
            <a:ext cx="81627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Tehnologie: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o-RO" altLang="ro-R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pentru UI + </a:t>
            </a:r>
            <a:r>
              <a:rPr kumimoji="0" lang="ro-RO" altLang="ro-RO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PyVis</a:t>
            </a:r>
            <a:endParaRPr kumimoji="0" lang="ro-RO" altLang="ro-R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33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7873D7-D043-A107-E86C-66B6C37FA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Neo4j vs. Oracle SQL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352F49D-700B-FA7B-30BD-7480BE192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218" y="1638300"/>
            <a:ext cx="9601200" cy="3581400"/>
          </a:xfrm>
        </p:spPr>
        <p:txBody>
          <a:bodyPr/>
          <a:lstStyle/>
          <a:p>
            <a:pPr marL="0" indent="0">
              <a:buNone/>
            </a:pPr>
            <a:r>
              <a:rPr lang="ro-RO" b="1" dirty="0"/>
              <a:t>Scenarii de Test:</a:t>
            </a:r>
            <a:endParaRPr lang="ro-RO" dirty="0"/>
          </a:p>
          <a:p>
            <a:r>
              <a:rPr lang="ro-RO" b="1" dirty="0"/>
              <a:t>Navigare (</a:t>
            </a:r>
            <a:r>
              <a:rPr lang="ro-RO" b="1" dirty="0" err="1"/>
              <a:t>Skill-sharing</a:t>
            </a:r>
            <a:r>
              <a:rPr lang="ro-RO" b="1" dirty="0"/>
              <a:t>):</a:t>
            </a:r>
            <a:r>
              <a:rPr lang="ro-RO" dirty="0"/>
              <a:t> Găsirea unui mentor (6 JOIN-uri în SQL vs. </a:t>
            </a:r>
            <a:r>
              <a:rPr lang="ro-RO" dirty="0" err="1"/>
              <a:t>Path</a:t>
            </a:r>
            <a:r>
              <a:rPr lang="ro-RO" dirty="0"/>
              <a:t> </a:t>
            </a:r>
            <a:r>
              <a:rPr lang="ro-RO" dirty="0" err="1"/>
              <a:t>traversal</a:t>
            </a:r>
            <a:r>
              <a:rPr lang="ro-RO" dirty="0"/>
              <a:t> în Neo4j).</a:t>
            </a:r>
          </a:p>
          <a:p>
            <a:r>
              <a:rPr lang="ro-RO" b="1" dirty="0"/>
              <a:t>Prietenii (Mutual </a:t>
            </a:r>
            <a:r>
              <a:rPr lang="ro-RO" b="1" dirty="0" err="1"/>
              <a:t>Friends</a:t>
            </a:r>
            <a:r>
              <a:rPr lang="ro-RO" b="1" dirty="0"/>
              <a:t>):</a:t>
            </a:r>
            <a:r>
              <a:rPr lang="ro-RO" dirty="0"/>
              <a:t> Self-</a:t>
            </a:r>
            <a:r>
              <a:rPr lang="ro-RO" dirty="0" err="1"/>
              <a:t>join</a:t>
            </a:r>
            <a:r>
              <a:rPr lang="ro-RO" dirty="0"/>
              <a:t> pe tabele masive vs. Traversare locală.</a:t>
            </a:r>
          </a:p>
          <a:p>
            <a:r>
              <a:rPr lang="ro-RO" b="1" dirty="0" err="1"/>
              <a:t>Stress</a:t>
            </a:r>
            <a:r>
              <a:rPr lang="ro-RO" b="1" dirty="0"/>
              <a:t> Test:</a:t>
            </a:r>
            <a:r>
              <a:rPr lang="ro-RO" dirty="0"/>
              <a:t> Agregare pe produs cartezian (~3 milioane rânduri).</a:t>
            </a:r>
          </a:p>
          <a:p>
            <a:endParaRPr lang="ro-RO" dirty="0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E34C2D93-E681-2611-2686-9A745381D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253301"/>
              </p:ext>
            </p:extLst>
          </p:nvPr>
        </p:nvGraphicFramePr>
        <p:xfrm>
          <a:off x="1295400" y="3797300"/>
          <a:ext cx="9601200" cy="15036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909297346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1179886142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522528174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733011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o-RO" b="1">
                          <a:solidFill>
                            <a:srgbClr val="1F1F1F"/>
                          </a:solidFill>
                          <a:effectLst/>
                        </a:rPr>
                        <a:t>Test</a:t>
                      </a:r>
                      <a:endParaRPr lang="ro-R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o-RO" b="1">
                          <a:solidFill>
                            <a:srgbClr val="1F1F1F"/>
                          </a:solidFill>
                          <a:effectLst/>
                        </a:rPr>
                        <a:t>Oracle SQL</a:t>
                      </a:r>
                      <a:endParaRPr lang="ro-R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o-RO" b="1">
                          <a:solidFill>
                            <a:srgbClr val="1F1F1F"/>
                          </a:solidFill>
                          <a:effectLst/>
                        </a:rPr>
                        <a:t>Neo4j (Graf)</a:t>
                      </a:r>
                      <a:endParaRPr lang="ro-R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o-RO" b="1">
                          <a:solidFill>
                            <a:srgbClr val="1F1F1F"/>
                          </a:solidFill>
                          <a:effectLst/>
                        </a:rPr>
                        <a:t>Câștigător</a:t>
                      </a:r>
                      <a:endParaRPr lang="ro-R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973423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o-RO" b="1">
                          <a:solidFill>
                            <a:srgbClr val="1F1F1F"/>
                          </a:solidFill>
                          <a:effectLst/>
                        </a:rPr>
                        <a:t>Navigare</a:t>
                      </a:r>
                      <a:endParaRPr lang="ro-R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o-RO">
                          <a:solidFill>
                            <a:srgbClr val="1F1F1F"/>
                          </a:solidFill>
                          <a:effectLst/>
                        </a:rPr>
                        <a:t>~1000 ms</a:t>
                      </a:r>
                      <a:endParaRPr lang="ro-R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o-RO" b="1">
                          <a:solidFill>
                            <a:srgbClr val="1F1F1F"/>
                          </a:solidFill>
                          <a:effectLst/>
                        </a:rPr>
                        <a:t>78 ms</a:t>
                      </a:r>
                      <a:endParaRPr lang="ro-R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 dirty="0">
                          <a:solidFill>
                            <a:srgbClr val="1F1F1F"/>
                          </a:solidFill>
                          <a:effectLst/>
                        </a:rPr>
                        <a:t>Neo4j</a:t>
                      </a:r>
                      <a:endParaRPr lang="it-IT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691135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o-RO" b="1">
                          <a:solidFill>
                            <a:srgbClr val="1F1F1F"/>
                          </a:solidFill>
                          <a:effectLst/>
                        </a:rPr>
                        <a:t>Mutual Friends</a:t>
                      </a:r>
                      <a:endParaRPr lang="ro-R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o-RO">
                          <a:solidFill>
                            <a:srgbClr val="1F1F1F"/>
                          </a:solidFill>
                          <a:effectLst/>
                        </a:rPr>
                        <a:t>~1000 ms</a:t>
                      </a:r>
                      <a:endParaRPr lang="ro-R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o-RO" b="1">
                          <a:solidFill>
                            <a:srgbClr val="1F1F1F"/>
                          </a:solidFill>
                          <a:effectLst/>
                        </a:rPr>
                        <a:t>118 ms</a:t>
                      </a:r>
                      <a:endParaRPr lang="ro-R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o-RO" b="1" dirty="0">
                          <a:solidFill>
                            <a:srgbClr val="1F1F1F"/>
                          </a:solidFill>
                          <a:effectLst/>
                        </a:rPr>
                        <a:t>Neo4j</a:t>
                      </a:r>
                      <a:endParaRPr lang="ro-RO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197319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o-RO" b="1">
                          <a:solidFill>
                            <a:srgbClr val="1F1F1F"/>
                          </a:solidFill>
                          <a:effectLst/>
                        </a:rPr>
                        <a:t>Stress Test</a:t>
                      </a:r>
                      <a:endParaRPr lang="ro-R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o-RO" b="1">
                          <a:solidFill>
                            <a:srgbClr val="1F1F1F"/>
                          </a:solidFill>
                          <a:effectLst/>
                        </a:rPr>
                        <a:t>3 secunde</a:t>
                      </a:r>
                      <a:endParaRPr lang="ro-R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o-RO">
                          <a:solidFill>
                            <a:srgbClr val="1F1F1F"/>
                          </a:solidFill>
                          <a:effectLst/>
                        </a:rPr>
                        <a:t>23 secunde</a:t>
                      </a:r>
                      <a:endParaRPr lang="ro-R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o-RO" b="1" dirty="0">
                          <a:solidFill>
                            <a:srgbClr val="1F1F1F"/>
                          </a:solidFill>
                          <a:effectLst/>
                        </a:rPr>
                        <a:t>SQL</a:t>
                      </a:r>
                      <a:endParaRPr lang="ro-RO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45318119"/>
                  </a:ext>
                </a:extLst>
              </a:tr>
            </a:tbl>
          </a:graphicData>
        </a:graphic>
      </p:graphicFrame>
      <p:sp>
        <p:nvSpPr>
          <p:cNvPr id="8" name="CasetăText 7">
            <a:extLst>
              <a:ext uri="{FF2B5EF4-FFF2-40B4-BE49-F238E27FC236}">
                <a16:creationId xmlns:a16="http://schemas.microsoft.com/office/drawing/2014/main" id="{3C97F94D-E843-4FE2-2BFB-45EDCE475A93}"/>
              </a:ext>
            </a:extLst>
          </p:cNvPr>
          <p:cNvSpPr txBox="1"/>
          <p:nvPr/>
        </p:nvSpPr>
        <p:spPr>
          <a:xfrm>
            <a:off x="1001486" y="575407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2000" dirty="0"/>
              <a:t>Concluzie: Neo4j domină la relații</a:t>
            </a:r>
            <a:r>
              <a:rPr lang="en-US" sz="2000" dirty="0"/>
              <a:t>, </a:t>
            </a:r>
            <a:r>
              <a:rPr lang="ro-RO" sz="2000" dirty="0"/>
              <a:t>SQL domină la calcule matematice pe seturi mari.</a:t>
            </a:r>
          </a:p>
        </p:txBody>
      </p:sp>
    </p:spTree>
    <p:extLst>
      <p:ext uri="{BB962C8B-B14F-4D97-AF65-F5344CB8AC3E}">
        <p14:creationId xmlns:p14="http://schemas.microsoft.com/office/powerpoint/2010/main" val="3221886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9343F89-BAD0-7ADC-9C00-BC2989A8A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Bibliografie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8DCE73AB-FA61-27A0-68C4-07BB68782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199" y="1638299"/>
            <a:ext cx="10293531" cy="4161609"/>
          </a:xfrm>
        </p:spPr>
        <p:txBody>
          <a:bodyPr>
            <a:normAutofit fontScale="92500" lnSpcReduction="20000"/>
          </a:bodyPr>
          <a:lstStyle/>
          <a:p>
            <a:r>
              <a:rPr lang="ro-RO" dirty="0"/>
              <a:t>Baze de Date &amp; Limbaje de Interogare</a:t>
            </a:r>
          </a:p>
          <a:p>
            <a:pPr lvl="1"/>
            <a:r>
              <a:rPr lang="ro-RO" i="0" u="sng" dirty="0">
                <a:hlinkClick r:id="rId2"/>
              </a:rPr>
              <a:t>Neo4j </a:t>
            </a:r>
            <a:r>
              <a:rPr lang="ro-RO" i="0" u="sng" dirty="0" err="1">
                <a:hlinkClick r:id="rId2"/>
              </a:rPr>
              <a:t>Documentation</a:t>
            </a:r>
            <a:endParaRPr lang="ro-RO" i="0" dirty="0"/>
          </a:p>
          <a:p>
            <a:pPr lvl="1"/>
            <a:r>
              <a:rPr lang="ro-RO" i="0" u="sng" dirty="0" err="1">
                <a:hlinkClick r:id="rId3"/>
              </a:rPr>
              <a:t>Cypher</a:t>
            </a:r>
            <a:r>
              <a:rPr lang="ro-RO" i="0" u="sng" dirty="0">
                <a:hlinkClick r:id="rId3"/>
              </a:rPr>
              <a:t> </a:t>
            </a:r>
            <a:r>
              <a:rPr lang="ro-RO" i="0" u="sng" dirty="0" err="1">
                <a:hlinkClick r:id="rId3"/>
              </a:rPr>
              <a:t>Query</a:t>
            </a:r>
            <a:r>
              <a:rPr lang="ro-RO" i="0" u="sng" dirty="0">
                <a:hlinkClick r:id="rId3"/>
              </a:rPr>
              <a:t> </a:t>
            </a:r>
            <a:r>
              <a:rPr lang="ro-RO" i="0" u="sng" dirty="0" err="1">
                <a:hlinkClick r:id="rId3"/>
              </a:rPr>
              <a:t>Language</a:t>
            </a:r>
            <a:r>
              <a:rPr lang="ro-RO" i="0" u="sng" dirty="0">
                <a:hlinkClick r:id="rId3"/>
              </a:rPr>
              <a:t> </a:t>
            </a:r>
            <a:r>
              <a:rPr lang="ro-RO" i="0" u="sng" dirty="0" err="1">
                <a:hlinkClick r:id="rId3"/>
              </a:rPr>
              <a:t>Reference</a:t>
            </a:r>
            <a:endParaRPr lang="ro-RO" i="0" dirty="0"/>
          </a:p>
          <a:p>
            <a:pPr lvl="1"/>
            <a:r>
              <a:rPr lang="ro-RO" i="0" u="sng" dirty="0">
                <a:hlinkClick r:id="rId4"/>
              </a:rPr>
              <a:t>Neo4j </a:t>
            </a:r>
            <a:r>
              <a:rPr lang="ro-RO" i="0" u="sng" dirty="0" err="1">
                <a:hlinkClick r:id="rId4"/>
              </a:rPr>
              <a:t>Python</a:t>
            </a:r>
            <a:r>
              <a:rPr lang="ro-RO" i="0" u="sng" dirty="0">
                <a:hlinkClick r:id="rId4"/>
              </a:rPr>
              <a:t> Driver Manual</a:t>
            </a:r>
            <a:endParaRPr lang="ro-RO" i="0" dirty="0"/>
          </a:p>
          <a:p>
            <a:pPr lvl="1"/>
            <a:r>
              <a:rPr lang="ro-RO" i="0" u="sng" dirty="0">
                <a:hlinkClick r:id="rId5"/>
              </a:rPr>
              <a:t>Oracle </a:t>
            </a:r>
            <a:r>
              <a:rPr lang="ro-RO" i="0" u="sng" dirty="0" err="1">
                <a:hlinkClick r:id="rId5"/>
              </a:rPr>
              <a:t>Database</a:t>
            </a:r>
            <a:r>
              <a:rPr lang="ro-RO" i="0" u="sng" dirty="0">
                <a:hlinkClick r:id="rId5"/>
              </a:rPr>
              <a:t> 19c </a:t>
            </a:r>
            <a:r>
              <a:rPr lang="ro-RO" i="0" u="sng" dirty="0" err="1">
                <a:hlinkClick r:id="rId5"/>
              </a:rPr>
              <a:t>Documentation</a:t>
            </a:r>
            <a:endParaRPr lang="ro-RO" i="0" dirty="0"/>
          </a:p>
          <a:p>
            <a:pPr lvl="1"/>
            <a:r>
              <a:rPr lang="ro-RO" i="0" u="sng" dirty="0" err="1">
                <a:hlinkClick r:id="rId6"/>
              </a:rPr>
              <a:t>Understanding</a:t>
            </a:r>
            <a:r>
              <a:rPr lang="ro-RO" i="0" u="sng" dirty="0">
                <a:hlinkClick r:id="rId6"/>
              </a:rPr>
              <a:t> Oracle </a:t>
            </a:r>
            <a:r>
              <a:rPr lang="ro-RO" i="0" u="sng" dirty="0" err="1">
                <a:hlinkClick r:id="rId6"/>
              </a:rPr>
              <a:t>Execution</a:t>
            </a:r>
            <a:r>
              <a:rPr lang="ro-RO" i="0" u="sng" dirty="0">
                <a:hlinkClick r:id="rId6"/>
              </a:rPr>
              <a:t> </a:t>
            </a:r>
            <a:r>
              <a:rPr lang="ro-RO" i="0" u="sng" dirty="0" err="1">
                <a:hlinkClick r:id="rId6"/>
              </a:rPr>
              <a:t>Plans</a:t>
            </a:r>
            <a:endParaRPr lang="ro-RO" i="0" dirty="0"/>
          </a:p>
          <a:p>
            <a:r>
              <a:rPr lang="ro-RO" dirty="0"/>
              <a:t>AI &amp; </a:t>
            </a:r>
            <a:r>
              <a:rPr lang="ro-RO" dirty="0" err="1"/>
              <a:t>Frameworks</a:t>
            </a:r>
            <a:endParaRPr lang="ro-RO" dirty="0"/>
          </a:p>
          <a:p>
            <a:pPr lvl="1"/>
            <a:r>
              <a:rPr lang="ro-RO" i="0" u="sng" dirty="0" err="1">
                <a:hlinkClick r:id="rId7"/>
              </a:rPr>
              <a:t>LangChain</a:t>
            </a:r>
            <a:r>
              <a:rPr lang="ro-RO" i="0" u="sng" dirty="0">
                <a:hlinkClick r:id="rId7"/>
              </a:rPr>
              <a:t> </a:t>
            </a:r>
            <a:r>
              <a:rPr lang="ro-RO" i="0" u="sng" dirty="0" err="1">
                <a:hlinkClick r:id="rId7"/>
              </a:rPr>
              <a:t>Python</a:t>
            </a:r>
            <a:r>
              <a:rPr lang="ro-RO" i="0" u="sng" dirty="0">
                <a:hlinkClick r:id="rId7"/>
              </a:rPr>
              <a:t> </a:t>
            </a:r>
            <a:r>
              <a:rPr lang="ro-RO" i="0" u="sng" dirty="0" err="1">
                <a:hlinkClick r:id="rId7"/>
              </a:rPr>
              <a:t>Documentation</a:t>
            </a:r>
            <a:endParaRPr lang="ro-RO" i="0" dirty="0"/>
          </a:p>
          <a:p>
            <a:pPr lvl="1"/>
            <a:r>
              <a:rPr lang="ro-RO" i="0" u="sng" dirty="0">
                <a:hlinkClick r:id="rId8"/>
              </a:rPr>
              <a:t>LangChain-Neo4j </a:t>
            </a:r>
            <a:r>
              <a:rPr lang="ro-RO" i="0" u="sng" dirty="0" err="1">
                <a:hlinkClick r:id="rId8"/>
              </a:rPr>
              <a:t>Cypher</a:t>
            </a:r>
            <a:r>
              <a:rPr lang="ro-RO" i="0" u="sng" dirty="0">
                <a:hlinkClick r:id="rId8"/>
              </a:rPr>
              <a:t> </a:t>
            </a:r>
            <a:r>
              <a:rPr lang="ro-RO" i="0" u="sng" dirty="0" err="1">
                <a:hlinkClick r:id="rId8"/>
              </a:rPr>
              <a:t>Integration</a:t>
            </a:r>
            <a:endParaRPr lang="ro-RO" i="0" dirty="0"/>
          </a:p>
          <a:p>
            <a:pPr lvl="1"/>
            <a:r>
              <a:rPr lang="ro-RO" i="0" u="sng" dirty="0">
                <a:hlinkClick r:id="rId9"/>
              </a:rPr>
              <a:t>Google AI Studio &amp; </a:t>
            </a:r>
            <a:r>
              <a:rPr lang="ro-RO" i="0" u="sng" dirty="0" err="1">
                <a:hlinkClick r:id="rId9"/>
              </a:rPr>
              <a:t>Gemini</a:t>
            </a:r>
            <a:r>
              <a:rPr lang="ro-RO" i="0" u="sng" dirty="0">
                <a:hlinkClick r:id="rId9"/>
              </a:rPr>
              <a:t> API</a:t>
            </a:r>
            <a:endParaRPr lang="ro-RO" i="0" dirty="0"/>
          </a:p>
          <a:p>
            <a:r>
              <a:rPr lang="ro-RO" dirty="0"/>
              <a:t>Interfață &amp; Vizualizare</a:t>
            </a:r>
          </a:p>
          <a:p>
            <a:pPr lvl="1"/>
            <a:r>
              <a:rPr lang="ro-RO" i="0" u="sng" dirty="0" err="1">
                <a:hlinkClick r:id="rId10"/>
              </a:rPr>
              <a:t>Streamlit</a:t>
            </a:r>
            <a:r>
              <a:rPr lang="ro-RO" i="0" u="sng" dirty="0">
                <a:hlinkClick r:id="rId10"/>
              </a:rPr>
              <a:t> </a:t>
            </a:r>
            <a:r>
              <a:rPr lang="ro-RO" i="0" u="sng" dirty="0" err="1">
                <a:hlinkClick r:id="rId10"/>
              </a:rPr>
              <a:t>Documentation</a:t>
            </a:r>
            <a:endParaRPr lang="ro-RO" i="0" dirty="0"/>
          </a:p>
          <a:p>
            <a:pPr lvl="1"/>
            <a:r>
              <a:rPr lang="ro-RO" i="0" u="sng" dirty="0" err="1">
                <a:hlinkClick r:id="rId11"/>
              </a:rPr>
              <a:t>PyVis</a:t>
            </a:r>
            <a:r>
              <a:rPr lang="ro-RO" i="0" u="sng" dirty="0">
                <a:hlinkClick r:id="rId11"/>
              </a:rPr>
              <a:t> </a:t>
            </a:r>
            <a:r>
              <a:rPr lang="ro-RO" i="0" u="sng" dirty="0" err="1">
                <a:hlinkClick r:id="rId11"/>
              </a:rPr>
              <a:t>Documentation</a:t>
            </a:r>
            <a:endParaRPr lang="ro-RO" i="0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126872996"/>
      </p:ext>
    </p:extLst>
  </p:cSld>
  <p:clrMapOvr>
    <a:masterClrMapping/>
  </p:clrMapOvr>
</p:sld>
</file>

<file path=ppt/theme/theme1.xml><?xml version="1.0" encoding="utf-8"?>
<a:theme xmlns:a="http://schemas.openxmlformats.org/drawingml/2006/main" name="Trunchiere">
  <a:themeElements>
    <a:clrScheme name="Trunchier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Trunchier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runchier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TM10001105[[fn=Trunchiere]]</Template>
  <TotalTime>43</TotalTime>
  <Words>519</Words>
  <Application>Microsoft Office PowerPoint</Application>
  <PresentationFormat>Ecran lat</PresentationFormat>
  <Paragraphs>113</Paragraphs>
  <Slides>9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9</vt:i4>
      </vt:variant>
    </vt:vector>
  </HeadingPairs>
  <TitlesOfParts>
    <vt:vector size="14" baseType="lpstr">
      <vt:lpstr>Arial</vt:lpstr>
      <vt:lpstr>Franklin Gothic Book</vt:lpstr>
      <vt:lpstr>Google Sans Text</vt:lpstr>
      <vt:lpstr>Times New Roman</vt:lpstr>
      <vt:lpstr>Trunchiere</vt:lpstr>
      <vt:lpstr>Modelarea și Interogarea unei Rețele Sociale Profesionale în Neo4j</vt:lpstr>
      <vt:lpstr>Arhitectura Sistemului</vt:lpstr>
      <vt:lpstr>Arhitectura Sistemului</vt:lpstr>
      <vt:lpstr>Modelul de Date</vt:lpstr>
      <vt:lpstr>Modelul de Date</vt:lpstr>
      <vt:lpstr>Agentul AI (GraphRAG)</vt:lpstr>
      <vt:lpstr>Dashboard &amp; Vizualizare</vt:lpstr>
      <vt:lpstr>Neo4j vs. Oracle SQL</vt:lpstr>
      <vt:lpstr>Bibliografie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MIHAI IORDACHE</dc:creator>
  <cp:lastModifiedBy>MIHAI IORDACHE</cp:lastModifiedBy>
  <cp:revision>1</cp:revision>
  <dcterms:created xsi:type="dcterms:W3CDTF">2026-01-20T13:18:25Z</dcterms:created>
  <dcterms:modified xsi:type="dcterms:W3CDTF">2026-01-20T14:01:40Z</dcterms:modified>
</cp:coreProperties>
</file>